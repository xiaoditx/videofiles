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71" r:id="rId7"/>
    <p:sldId id="272" r:id="rId8"/>
    <p:sldId id="273" r:id="rId9"/>
    <p:sldId id="260" r:id="rId10"/>
    <p:sldId id="261" r:id="rId11"/>
    <p:sldId id="262" r:id="rId12"/>
    <p:sldId id="280" r:id="rId13"/>
    <p:sldId id="263" r:id="rId14"/>
    <p:sldId id="264" r:id="rId15"/>
    <p:sldId id="265" r:id="rId16"/>
    <p:sldId id="278" r:id="rId17"/>
    <p:sldId id="267" r:id="rId18"/>
    <p:sldId id="268" r:id="rId19"/>
    <p:sldId id="269" r:id="rId20"/>
    <p:sldId id="266" r:id="rId21"/>
    <p:sldId id="281" r:id="rId22"/>
    <p:sldId id="270" r:id="rId23"/>
    <p:sldId id="279" r:id="rId24"/>
    <p:sldId id="282" r:id="rId25"/>
    <p:sldId id="274" r:id="rId26"/>
    <p:sldId id="275" r:id="rId27"/>
    <p:sldId id="277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AF50"/>
    <a:srgbClr val="5071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96072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56392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004228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39540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340637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09508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4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26.svg"/><Relationship Id="rId5" Type="http://schemas.openxmlformats.org/officeDocument/2006/relationships/image" Target="../media/image22.sv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arkdown.com.cn/basic-syntax/" TargetMode="Externa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54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1524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95500" y="2286000"/>
            <a:ext cx="79883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从零开始学Markdown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168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4000500" y="3429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轻松上手的极简</a:t>
            </a:r>
            <a:r>
              <a:rPr lang="zh-CN" altLang="en-US" sz="2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文档工具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0" y="571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极简 · 高效 · 通用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|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6CCC8BB-F053-A260-0C46-B0D52A2A8159}"/>
              </a:ext>
            </a:extLst>
          </p:cNvPr>
          <p:cNvGrpSpPr/>
          <p:nvPr/>
        </p:nvGrpSpPr>
        <p:grpSpPr>
          <a:xfrm>
            <a:off x="762000" y="1792520"/>
            <a:ext cx="10668000" cy="762000"/>
            <a:chOff x="762000" y="1778000"/>
            <a:chExt cx="10668000" cy="762000"/>
          </a:xfrm>
        </p:grpSpPr>
        <p:sp>
          <p:nvSpPr>
            <p:cNvPr id="5" name="AutoShape 5"/>
            <p:cNvSpPr/>
            <p:nvPr/>
          </p:nvSpPr>
          <p:spPr>
            <a:xfrm>
              <a:off x="762000" y="1778000"/>
              <a:ext cx="10668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9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A2540">
                  <a:alpha val="1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00" y="1955800"/>
              <a:ext cx="406400" cy="406400"/>
            </a:xfrm>
            <a:prstGeom prst="rect">
              <a:avLst/>
            </a:prstGeom>
          </p:spPr>
        </p:pic>
        <p:sp>
          <p:nvSpPr>
            <p:cNvPr id="7" name="AutoShape 7"/>
            <p:cNvSpPr/>
            <p:nvPr/>
          </p:nvSpPr>
          <p:spPr>
            <a:xfrm>
              <a:off x="1651000" y="1968500"/>
              <a:ext cx="762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A254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01. 什么是 Markdown？</a:t>
              </a:r>
              <a:endParaRPr lang="en-US" sz="11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A514FB-4079-C4FB-DC2E-232F794393E2}"/>
              </a:ext>
            </a:extLst>
          </p:cNvPr>
          <p:cNvGrpSpPr/>
          <p:nvPr/>
        </p:nvGrpSpPr>
        <p:grpSpPr>
          <a:xfrm>
            <a:off x="762000" y="3566890"/>
            <a:ext cx="10668000" cy="762000"/>
            <a:chOff x="762000" y="2667000"/>
            <a:chExt cx="10668000" cy="762000"/>
          </a:xfrm>
        </p:grpSpPr>
        <p:sp>
          <p:nvSpPr>
            <p:cNvPr id="8" name="AutoShape 8"/>
            <p:cNvSpPr/>
            <p:nvPr/>
          </p:nvSpPr>
          <p:spPr>
            <a:xfrm>
              <a:off x="762000" y="2667000"/>
              <a:ext cx="10668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9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A2540">
                  <a:alpha val="1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6000" y="2844800"/>
              <a:ext cx="406400" cy="406400"/>
            </a:xfrm>
            <a:prstGeom prst="rect">
              <a:avLst/>
            </a:prstGeom>
          </p:spPr>
        </p:pic>
        <p:sp>
          <p:nvSpPr>
            <p:cNvPr id="10" name="AutoShape 10"/>
            <p:cNvSpPr/>
            <p:nvPr/>
          </p:nvSpPr>
          <p:spPr>
            <a:xfrm>
              <a:off x="1651000" y="2857500"/>
              <a:ext cx="762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 dirty="0">
                  <a:solidFill>
                    <a:srgbClr val="0A254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03. </a:t>
              </a:r>
              <a:r>
                <a:rPr lang="en-US" sz="2000" b="1" i="0" u="none" strike="noStrike" dirty="0" err="1">
                  <a:solidFill>
                    <a:srgbClr val="0A254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基础语法入门</a:t>
              </a:r>
              <a:endParaRPr lang="en-US" sz="1100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365E2BB-C8C9-2A4A-A8BA-66FF49436316}"/>
              </a:ext>
            </a:extLst>
          </p:cNvPr>
          <p:cNvGrpSpPr/>
          <p:nvPr/>
        </p:nvGrpSpPr>
        <p:grpSpPr>
          <a:xfrm>
            <a:off x="762000" y="4455890"/>
            <a:ext cx="10668000" cy="762000"/>
            <a:chOff x="762000" y="3556000"/>
            <a:chExt cx="10668000" cy="762000"/>
          </a:xfrm>
        </p:grpSpPr>
        <p:sp>
          <p:nvSpPr>
            <p:cNvPr id="11" name="AutoShape 11"/>
            <p:cNvSpPr/>
            <p:nvPr/>
          </p:nvSpPr>
          <p:spPr>
            <a:xfrm>
              <a:off x="762000" y="3556000"/>
              <a:ext cx="10668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9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A2540">
                  <a:alpha val="1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6000" y="3733800"/>
              <a:ext cx="406400" cy="406400"/>
            </a:xfrm>
            <a:prstGeom prst="rect">
              <a:avLst/>
            </a:prstGeom>
          </p:spPr>
        </p:pic>
        <p:sp>
          <p:nvSpPr>
            <p:cNvPr id="13" name="AutoShape 13"/>
            <p:cNvSpPr/>
            <p:nvPr/>
          </p:nvSpPr>
          <p:spPr>
            <a:xfrm>
              <a:off x="1651000" y="3746500"/>
              <a:ext cx="762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 dirty="0">
                  <a:solidFill>
                    <a:srgbClr val="0A254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04. </a:t>
              </a:r>
              <a:r>
                <a:rPr lang="en-US" sz="2000" b="1" i="0" u="none" strike="noStrike" dirty="0" err="1">
                  <a:solidFill>
                    <a:srgbClr val="0A254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进阶格式技巧</a:t>
              </a:r>
              <a:endParaRPr lang="en-US" sz="1100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9394875-48C2-900F-C760-094B2F711533}"/>
              </a:ext>
            </a:extLst>
          </p:cNvPr>
          <p:cNvGrpSpPr/>
          <p:nvPr/>
        </p:nvGrpSpPr>
        <p:grpSpPr>
          <a:xfrm>
            <a:off x="747486" y="2686959"/>
            <a:ext cx="10668000" cy="762000"/>
            <a:chOff x="762000" y="4445000"/>
            <a:chExt cx="10668000" cy="762000"/>
          </a:xfrm>
        </p:grpSpPr>
        <p:sp>
          <p:nvSpPr>
            <p:cNvPr id="14" name="AutoShape 14"/>
            <p:cNvSpPr/>
            <p:nvPr/>
          </p:nvSpPr>
          <p:spPr>
            <a:xfrm>
              <a:off x="762000" y="4445000"/>
              <a:ext cx="10668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9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A2540">
                  <a:alpha val="1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16000" y="4622800"/>
              <a:ext cx="406400" cy="406400"/>
            </a:xfrm>
            <a:prstGeom prst="rect">
              <a:avLst/>
            </a:prstGeom>
          </p:spPr>
        </p:pic>
        <p:sp>
          <p:nvSpPr>
            <p:cNvPr id="16" name="AutoShape 16"/>
            <p:cNvSpPr/>
            <p:nvPr/>
          </p:nvSpPr>
          <p:spPr>
            <a:xfrm>
              <a:off x="1651000" y="4635500"/>
              <a:ext cx="762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 dirty="0">
                  <a:solidFill>
                    <a:srgbClr val="0A254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02. </a:t>
              </a:r>
              <a:r>
                <a:rPr lang="zh-CN" altLang="en-US" sz="2000" b="1" dirty="0">
                  <a:solidFill>
                    <a:srgbClr val="0A254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编写</a:t>
              </a:r>
              <a:r>
                <a:rPr lang="en-US" sz="2000" b="1" i="0" u="none" strike="noStrike" dirty="0" err="1">
                  <a:solidFill>
                    <a:srgbClr val="0A254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</a:t>
              </a:r>
              <a:endParaRPr lang="en-US" sz="1100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899448C-55DC-76A1-3725-F419257ED135}"/>
              </a:ext>
            </a:extLst>
          </p:cNvPr>
          <p:cNvGrpSpPr/>
          <p:nvPr/>
        </p:nvGrpSpPr>
        <p:grpSpPr>
          <a:xfrm>
            <a:off x="762000" y="5334000"/>
            <a:ext cx="10668000" cy="762000"/>
            <a:chOff x="762000" y="5334000"/>
            <a:chExt cx="10668000" cy="762000"/>
          </a:xfrm>
        </p:grpSpPr>
        <p:sp>
          <p:nvSpPr>
            <p:cNvPr id="17" name="AutoShape 17"/>
            <p:cNvSpPr/>
            <p:nvPr/>
          </p:nvSpPr>
          <p:spPr>
            <a:xfrm>
              <a:off x="762000" y="5334000"/>
              <a:ext cx="10668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9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A2540">
                  <a:alpha val="1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16000" y="5511800"/>
              <a:ext cx="406400" cy="406400"/>
            </a:xfrm>
            <a:prstGeom prst="rect">
              <a:avLst/>
            </a:prstGeom>
          </p:spPr>
        </p:pic>
        <p:sp>
          <p:nvSpPr>
            <p:cNvPr id="19" name="AutoShape 19"/>
            <p:cNvSpPr/>
            <p:nvPr/>
          </p:nvSpPr>
          <p:spPr>
            <a:xfrm>
              <a:off x="1651000" y="5524500"/>
              <a:ext cx="762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 dirty="0">
                  <a:solidFill>
                    <a:srgbClr val="0A254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05. </a:t>
              </a:r>
              <a:r>
                <a:rPr lang="en-US" sz="2000" b="1" i="0" u="none" strike="noStrike" dirty="0" err="1">
                  <a:solidFill>
                    <a:srgbClr val="0A254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总结</a:t>
              </a:r>
              <a:endParaRPr lang="en-US" sz="11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207000" y="1651000"/>
            <a:ext cx="17907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413000" y="2794000"/>
            <a:ext cx="7378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什么是Markdown？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381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556000" y="419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0A254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OVERVIEW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什么是Markdown？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是一种轻量级标记语言，用简单的符号标记文本格式，让你专注于内容创作。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0A2540">
              <a:alpha val="5000"/>
            </a:srgbClr>
          </a:solidFill>
          <a:ln w="12700" cap="flat" cmpd="sng">
            <a:solidFill>
              <a:srgbClr val="0A25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57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619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简单高效：</a:t>
            </a:r>
            <a:r>
              <a:rPr lang="en-US" sz="16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极简语法，降低排版成本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3815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0A2540">
              <a:alpha val="5000"/>
            </a:srgbClr>
          </a:solidFill>
          <a:ln w="12700" cap="flat" cmpd="sng">
            <a:solidFill>
              <a:srgbClr val="0A25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610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57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易读易写：</a:t>
            </a:r>
            <a:r>
              <a:rPr lang="en-US" sz="16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纯文本格式，兼顾可读性与渲染效果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858000" y="1778000"/>
            <a:ext cx="4064000" cy="254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112000" y="2159000"/>
            <a:ext cx="3556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858000" y="457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0A254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Focus on content, not format.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286000" y="1905000"/>
            <a:ext cx="762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A254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40000" y="22225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spc="400" dirty="0">
                <a:solidFill>
                  <a:srgbClr val="0A254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2540000" y="28575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编写</a:t>
            </a:r>
            <a:r>
              <a:rPr lang="en-US" sz="40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工具</a:t>
            </a:r>
            <a:endParaRPr lang="en-US" sz="1100" dirty="0"/>
          </a:p>
        </p:txBody>
      </p:sp>
      <p:cxnSp>
        <p:nvCxnSpPr>
          <p:cNvPr id="6" name="Connector 6"/>
          <p:cNvCxnSpPr/>
          <p:nvPr/>
        </p:nvCxnSpPr>
        <p:spPr>
          <a:xfrm rot="-57290">
            <a:off x="5715053" y="37401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A254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2540000" y="4000500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0A2540">
                    <a:alpha val="50196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RECOMMENDED TOOLS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517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在线编辑器推荐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278742"/>
            <a:ext cx="3048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05000" y="2532742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143000" y="3929742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Cmd Markdown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4374242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A254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作业部落出品，界面优雅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0" y="2278742"/>
            <a:ext cx="3048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0" y="2532742"/>
            <a:ext cx="1270000" cy="1270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3929742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马克飞象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699000" y="4374242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0A254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印象笔记生态，云端同步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8128000" y="2278742"/>
            <a:ext cx="3048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017000" y="2532742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255000" y="3929742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StackEdit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8255000" y="4374242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A254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支持多格式导出，实时预览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6085113"/>
            <a:ext cx="10160000" cy="25400"/>
          </a:xfrm>
          <a:prstGeom prst="roundRect">
            <a:avLst>
              <a:gd name="adj" fmla="val 0"/>
            </a:avLst>
          </a:prstGeom>
          <a:solidFill>
            <a:srgbClr val="0A254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6275613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无需安装软件，随时随地享受 Markdown 写作体验</a:t>
            </a:r>
            <a:endParaRPr lang="en-US" sz="1100"/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DE7568AA-67C6-C2DA-CDAF-EC8D48034F5F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517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桌面编辑器推荐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35196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05000" y="2489196"/>
            <a:ext cx="1016000" cy="1016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889000" y="3632196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Typora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076696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F6B"/>
                </a:solidFill>
                <a:latin typeface="Noto Sans SC"/>
                <a:ea typeface="Noto Sans SC"/>
                <a:cs typeface="Noto Sans SC"/>
                <a:sym typeface="Noto Sans SC"/>
              </a:rPr>
              <a:t>“所见即所得”的直观体验，Markdown 编辑首选，界面极简流畅。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235196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588000" y="2489196"/>
            <a:ext cx="1016000" cy="1016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572000" y="3632196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VS Code (插件)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4076696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F6B"/>
                </a:solidFill>
                <a:latin typeface="Noto Sans SC"/>
                <a:ea typeface="Noto Sans SC"/>
                <a:cs typeface="Noto Sans SC"/>
                <a:sym typeface="Noto Sans SC"/>
              </a:rPr>
              <a:t>配合插件生态极其强大，适合程序员，支持高度自定义工作流。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235196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271000" y="2489196"/>
            <a:ext cx="1016000" cy="1016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255000" y="3632196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Mark Text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4076696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F6B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开源免费的轻量级编辑器，功能丰富且无广告，注重隐私保护。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972627"/>
            <a:ext cx="10668000" cy="25400"/>
          </a:xfrm>
          <a:prstGeom prst="roundRect">
            <a:avLst>
              <a:gd name="adj" fmla="val 0"/>
            </a:avLst>
          </a:prstGeom>
          <a:solidFill>
            <a:srgbClr val="0A254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6226627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“ 选择最适合你工作流的工具，提升写作与编码效率 ”</a:t>
            </a:r>
            <a:endParaRPr lang="en-US" sz="1100"/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B7BA5E11-E2E8-8DE7-B6B4-2756B70F2B14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715000" y="3048000"/>
            <a:ext cx="762000" cy="50800"/>
          </a:xfrm>
          <a:prstGeom prst="roundRect">
            <a:avLst>
              <a:gd name="adj" fmla="val 0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330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spc="40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基础语法入门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4064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0A254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BASIC SYNTAX INTRODUCTION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标题 (Headings)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06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196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 (Syntax)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476500"/>
            <a:ext cx="431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800" b="1" i="0" u="none" strike="noStrike" dirty="0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# </a:t>
            </a:r>
            <a:r>
              <a:rPr lang="en-US" sz="18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这是一级标题</a:t>
            </a:r>
            <a:endParaRPr lang="en-US" sz="1100" dirty="0"/>
          </a:p>
          <a:p>
            <a:pPr indent="0" algn="l">
              <a:lnSpc>
                <a:spcPct val="133333"/>
              </a:lnSpc>
            </a:pPr>
            <a:r>
              <a:rPr lang="en-US" sz="1800" b="1" i="0" u="none" strike="noStrike" dirty="0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## </a:t>
            </a:r>
            <a:r>
              <a:rPr lang="en-US" sz="18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这是二级标题</a:t>
            </a:r>
            <a:endParaRPr lang="en-US" sz="1800" b="0" i="0" u="none" strike="noStrike" dirty="0">
              <a:solidFill>
                <a:srgbClr val="0A25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33333"/>
              </a:lnSpc>
            </a:pPr>
            <a:r>
              <a:rPr lang="en-US" sz="1800" b="1" i="0" u="none" strike="noStrike" dirty="0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### </a:t>
            </a:r>
            <a:r>
              <a:rPr lang="en-US" sz="18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这是三级标题</a:t>
            </a:r>
            <a:endParaRPr lang="en-US" sz="1800" b="0" i="0" u="none" strike="noStrike" dirty="0">
              <a:solidFill>
                <a:srgbClr val="0A25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 dirty="0">
                <a:solidFill>
                  <a:srgbClr val="0A254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// 注：# </a:t>
            </a:r>
            <a:r>
              <a:rPr lang="en-US" sz="1400" b="0" i="0" u="none" strike="noStrike" dirty="0" err="1">
                <a:solidFill>
                  <a:srgbClr val="0A254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号数量代表标题层级，最多支持六级</a:t>
            </a:r>
            <a:endParaRPr lang="en-US" sz="1400" b="0" i="0" u="none" strike="noStrike" dirty="0">
              <a:solidFill>
                <a:srgbClr val="0A2540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604000" y="1778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2006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196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 (Rendered)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858000" y="2476500"/>
            <a:ext cx="431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32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这是一级标题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24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这是二级标题</a:t>
            </a:r>
          </a:p>
          <a:p>
            <a:pPr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这是三级标题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46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A25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通过简单的 # 符号标记，即可快速构建清晰的文章层级结构，提升阅读体验。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584700" y="508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段落与换行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1651000"/>
            <a:ext cx="4826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A254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54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 (Input)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2413000"/>
            <a:ext cx="4318000" cy="2032000"/>
          </a:xfrm>
          <a:prstGeom prst="roundRect">
            <a:avLst>
              <a:gd name="adj" fmla="val 3125"/>
            </a:avLst>
          </a:prstGeom>
          <a:solidFill>
            <a:srgbClr val="0A2540">
              <a:alpha val="5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2540000"/>
            <a:ext cx="406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这是第一段文字</a:t>
            </a:r>
            <a:r>
              <a:rPr lang="en-US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。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这是第二段文字</a:t>
            </a:r>
            <a:r>
              <a:rPr lang="en-US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。</a:t>
            </a:r>
            <a:r>
              <a:rPr lang="en-US" sz="1600" b="1" i="0" u="none" strike="noStrike" dirty="0">
                <a:solidFill>
                  <a:srgbClr val="FF7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US" sz="1600" b="1" i="0" u="none" strike="noStrike" dirty="0" err="1">
                <a:solidFill>
                  <a:srgbClr val="FF7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两个回车</a:t>
            </a:r>
            <a:r>
              <a:rPr lang="en-US" sz="1600" b="1" i="0" u="none" strike="noStrike" dirty="0">
                <a:solidFill>
                  <a:srgbClr val="FF7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zh-CN" altLang="en-US" sz="1600" b="1" i="0" u="none" strike="noStrike" dirty="0">
                <a:solidFill>
                  <a:srgbClr val="FF7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↓ </a:t>
            </a:r>
            <a:r>
              <a:rPr lang="en-US" sz="1600" b="1" i="0" u="none" strike="noStrike" dirty="0">
                <a:solidFill>
                  <a:srgbClr val="FF7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</a:p>
          <a:p>
            <a:pPr indent="0" algn="l">
              <a:lnSpc>
                <a:spcPct val="125000"/>
              </a:lnSpc>
            </a:pPr>
            <a:endParaRPr lang="en-US" sz="1600" b="1" i="0" u="none" strike="noStrike" dirty="0">
              <a:solidFill>
                <a:srgbClr val="FF7A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这是一行文字</a:t>
            </a:r>
            <a:r>
              <a:rPr lang="en-US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。</a:t>
            </a:r>
            <a:r>
              <a:rPr lang="en-US" sz="1600" b="1" i="0" u="none" strike="noStrike" dirty="0">
                <a:solidFill>
                  <a:srgbClr val="FF7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__(</a:t>
            </a:r>
            <a:r>
              <a:rPr lang="en-US" sz="1600" b="1" i="0" u="none" strike="noStrike" dirty="0" err="1">
                <a:solidFill>
                  <a:srgbClr val="FF7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两个空格</a:t>
            </a:r>
            <a:r>
              <a:rPr lang="en-US" sz="1600" b="1" i="0" u="none" strike="noStrike" dirty="0">
                <a:solidFill>
                  <a:srgbClr val="FF7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这是下一行文字</a:t>
            </a:r>
            <a:r>
              <a:rPr lang="en-US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477000" y="1651000"/>
            <a:ext cx="4826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A254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1905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854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 (Output)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731000" y="2413000"/>
            <a:ext cx="4318000" cy="2032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833419" y="264781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这是第一段文字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sz="1100" dirty="0">
                <a:ea typeface="Noto Sans SC"/>
              </a:rPr>
              <a:t> 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这是第</a:t>
            </a:r>
            <a:r>
              <a:rPr lang="zh-CN" alt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段</a:t>
            </a:r>
            <a:r>
              <a:rPr lang="zh-CN" alt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第二句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89000" y="5461000"/>
            <a:ext cx="10414000" cy="762000"/>
          </a:xfrm>
          <a:prstGeom prst="roundRect">
            <a:avLst>
              <a:gd name="adj" fmla="val 16666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5689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56515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核心规则：</a:t>
            </a:r>
            <a:r>
              <a:rPr lang="en-US" sz="16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按两次回车换段；文字末尾加两个空格再回车实现换行不换段</a:t>
            </a:r>
            <a:r>
              <a:rPr lang="en-US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839A5AC-D1C3-B8A2-9D18-2056356526E7}"/>
              </a:ext>
            </a:extLst>
          </p:cNvPr>
          <p:cNvSpPr txBox="1"/>
          <p:nvPr/>
        </p:nvSpPr>
        <p:spPr>
          <a:xfrm>
            <a:off x="6731000" y="3429000"/>
            <a:ext cx="1800493" cy="962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 algn="l">
              <a:lnSpc>
                <a:spcPct val="133333"/>
              </a:lnSpc>
            </a:pPr>
            <a:r>
              <a:rPr lang="en-US" altLang="zh-CN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这是一行文字</a:t>
            </a:r>
            <a:r>
              <a:rPr lang="en-US" altLang="zh-CN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33333"/>
              </a:lnSpc>
            </a:pPr>
            <a:r>
              <a:rPr lang="en-US" altLang="zh-CN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这是下一行文字</a:t>
            </a:r>
            <a:r>
              <a:rPr lang="en-US" altLang="zh-CN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BB87E8AE-F489-3091-2C51-A02CCD0EE05A}"/>
              </a:ext>
            </a:extLst>
          </p:cNvPr>
          <p:cNvSpPr/>
          <p:nvPr/>
        </p:nvSpPr>
        <p:spPr>
          <a:xfrm>
            <a:off x="5769431" y="1231902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2514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A2540"/>
                </a:solidFill>
                <a:latin typeface="Noto Sans SC"/>
                <a:ea typeface="Noto Sans SC"/>
                <a:sym typeface="Noto Sans SC"/>
              </a:rPr>
              <a:t>粗体与斜体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828802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A2540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19302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</a:t>
            </a:r>
            <a:r>
              <a:rPr lang="en-US" sz="20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(Markdown)</a:t>
            </a:r>
            <a:endParaRPr lang="en-US" sz="11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16202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565402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**</a:t>
            </a:r>
            <a:r>
              <a:rPr lang="en-US" sz="18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这是粗体</a:t>
            </a:r>
            <a:r>
              <a:rPr lang="en-US" sz="18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**</a:t>
            </a:r>
            <a:endParaRPr lang="en-US" sz="11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51202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200402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*</a:t>
            </a:r>
            <a:r>
              <a:rPr lang="en-US" sz="18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这是斜体</a:t>
            </a:r>
            <a:r>
              <a:rPr lang="en-US" sz="18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*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86202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835402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***</a:t>
            </a:r>
            <a:r>
              <a:rPr lang="en-US" sz="18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这是粗斜体</a:t>
            </a:r>
            <a:r>
              <a:rPr lang="en-US" sz="18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***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350000" y="1828802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A2540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04000" y="2019302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 (Preview)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2616202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2565402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这是粗体</a:t>
            </a:r>
            <a:r>
              <a:rPr lang="en-US" sz="1800" b="1" i="0" u="none" strike="noStrike" dirty="0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en-US" sz="14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4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文字加粗</a:t>
            </a:r>
            <a:r>
              <a:rPr lang="en-US" sz="14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3251202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200402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1" u="none" strike="noStrike" dirty="0" err="1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这是斜体</a:t>
            </a:r>
            <a:r>
              <a:rPr lang="en-US" sz="1800" b="0" i="1" u="none" strike="noStrike" dirty="0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en-US" sz="14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4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文字倾斜</a:t>
            </a:r>
            <a:r>
              <a:rPr lang="en-US" sz="14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3886202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3835402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1" u="none" strike="noStrike" dirty="0" err="1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这是粗斜体</a:t>
            </a:r>
            <a:r>
              <a:rPr lang="en-US" sz="1800" b="1" i="1" u="none" strike="noStrike" dirty="0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en-US" sz="14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4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加粗并倾斜</a:t>
            </a:r>
            <a:r>
              <a:rPr lang="en-US" sz="14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762000" y="6085112"/>
            <a:ext cx="10668000" cy="25400"/>
          </a:xfrm>
          <a:prstGeom prst="roundRect">
            <a:avLst>
              <a:gd name="adj" fmla="val 0"/>
            </a:avLst>
          </a:prstGeom>
          <a:solidFill>
            <a:srgbClr val="0A254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6275612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A25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极简标记 · 直观高效 · 提升文本层次感</a:t>
            </a:r>
            <a:endParaRPr lang="en-US" sz="1100"/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B240F86C-5864-9845-BED7-A4873B5826C4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10558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2514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A2540"/>
                </a:solidFill>
                <a:latin typeface="Noto Sans SC"/>
                <a:ea typeface="Noto Sans SC"/>
                <a:sym typeface="Noto Sans SC"/>
              </a:rPr>
              <a:t>删除线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286004"/>
            <a:ext cx="5080000" cy="2539996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A2540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540002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</a:t>
            </a:r>
            <a:r>
              <a:rPr lang="en-US" sz="20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(Markdown)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658257" y="3454402"/>
            <a:ext cx="323668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~~</a:t>
            </a:r>
            <a:r>
              <a:rPr lang="zh-CN" altLang="en-US" sz="20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我是一段要被删除的话</a:t>
            </a:r>
            <a:r>
              <a:rPr lang="en-US" altLang="zh-CN" sz="2000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~~</a:t>
            </a:r>
            <a:endParaRPr lang="en-US" sz="1200" dirty="0"/>
          </a:p>
        </p:txBody>
      </p:sp>
      <p:sp>
        <p:nvSpPr>
          <p:cNvPr id="12" name="AutoShape 12"/>
          <p:cNvSpPr/>
          <p:nvPr/>
        </p:nvSpPr>
        <p:spPr>
          <a:xfrm>
            <a:off x="6350000" y="2286004"/>
            <a:ext cx="5080000" cy="2539996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A2540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04000" y="2484671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</a:t>
            </a:r>
            <a:r>
              <a:rPr lang="en-US" sz="20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(Preview)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527471" y="3454402"/>
            <a:ext cx="272505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strike="sngStrike" dirty="0"/>
              <a:t>我是一段要被删除的话</a:t>
            </a:r>
            <a:endParaRPr lang="en-US" sz="1100" strike="sngStrike" dirty="0"/>
          </a:p>
        </p:txBody>
      </p:sp>
      <p:sp>
        <p:nvSpPr>
          <p:cNvPr id="20" name="AutoShape 20"/>
          <p:cNvSpPr/>
          <p:nvPr/>
        </p:nvSpPr>
        <p:spPr>
          <a:xfrm>
            <a:off x="762000" y="6085112"/>
            <a:ext cx="10668000" cy="25400"/>
          </a:xfrm>
          <a:prstGeom prst="roundRect">
            <a:avLst>
              <a:gd name="adj" fmla="val 0"/>
            </a:avLst>
          </a:prstGeom>
          <a:solidFill>
            <a:srgbClr val="0A254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6275612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A25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极简标记 · 直观高效 · 提升文本层次感</a:t>
            </a:r>
            <a:endParaRPr lang="en-US" sz="1100"/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B240F86C-5864-9845-BED7-A4873B5826C4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530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列表 - 无序列表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1981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语法示例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540000"/>
            <a:ext cx="4216400" cy="1524000"/>
          </a:xfrm>
          <a:prstGeom prst="roundRect">
            <a:avLst>
              <a:gd name="adj" fmla="val 4166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93800" y="2667000"/>
            <a:ext cx="3962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-  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项目一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-  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项目二</a:t>
            </a:r>
            <a:endParaRPr lang="en-US" sz="16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-  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项目三</a:t>
            </a:r>
            <a:endParaRPr lang="en-US" sz="16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604000" y="1778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08800" y="203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15200" y="1981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页面渲染效果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08800" y="2540000"/>
            <a:ext cx="4216400" cy="1524000"/>
          </a:xfrm>
          <a:prstGeom prst="roundRect">
            <a:avLst>
              <a:gd name="adj" fmla="val 4166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035800" y="2667000"/>
            <a:ext cx="3962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374151"/>
              </a:buClr>
              <a:buChar char="•"/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项目一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项目二</a:t>
            </a:r>
          </a:p>
          <a:p>
            <a:pPr marL="203200" indent="-203200" algn="l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项目三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A2540">
              <a:alpha val="5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6800" y="5562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5461000"/>
            <a:ext cx="952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技巧提示：在文字前面加上一个减号</a:t>
            </a:r>
            <a:r>
              <a:rPr lang="en-US" sz="1400" b="1" i="0" u="none" strike="noStrike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en-US" sz="14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或者星号，就能快速创建一个无序列表。</a:t>
            </a:r>
            <a:endParaRPr lang="en-US" sz="1100"/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963B07F5-3261-2076-EB6B-6036F56B1EFC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4013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列表 - 有序列表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981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 (Markdown)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318000" cy="1397000"/>
          </a:xfrm>
          <a:prstGeom prst="roundRect">
            <a:avLst>
              <a:gd name="adj" fmla="val 4545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667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en-US" sz="1600" b="0" i="0" u="none" strike="noStrik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第一步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2. </a:t>
            </a:r>
            <a:r>
              <a:rPr lang="en-US" sz="1600" b="0" i="0" u="none" strike="noStrik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第二步</a:t>
            </a:r>
            <a:endParaRPr lang="en-US" sz="1600" b="0" i="0" u="none" strike="noStrik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3. </a:t>
            </a:r>
            <a:r>
              <a:rPr lang="en-US" sz="1600" b="0" i="0" u="none" strike="noStrik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第三步</a:t>
            </a:r>
            <a:endParaRPr lang="en-US" sz="1600" b="0" i="0" u="none" strike="noStrik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604000" y="1778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203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1981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 (Preview)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0" y="2540000"/>
            <a:ext cx="4318000" cy="1397000"/>
          </a:xfrm>
          <a:prstGeom prst="roundRect">
            <a:avLst>
              <a:gd name="adj" fmla="val 4545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DCE0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985000" y="2667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6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6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</a:t>
            </a:r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6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953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A2540">
              <a:alpha val="5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181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5080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sz="14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使用技巧：</a:t>
            </a:r>
            <a:r>
              <a:rPr lang="en-US" sz="14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会自动帮你生成连续的序号，即使中间插入或删除条目，序号也会自动更新，非常适合撰写步骤说明或文档大纲。</a:t>
            </a:r>
            <a:endParaRPr lang="en-US" sz="1100"/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681ACA3B-137D-103C-3112-F8C8B1373B8D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4013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列表</a:t>
            </a:r>
            <a:r>
              <a:rPr lang="en-US" sz="36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– </a:t>
            </a:r>
            <a:r>
              <a:rPr lang="zh-CN" altLang="en-US" sz="3600" b="1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代办</a:t>
            </a:r>
            <a:r>
              <a:rPr lang="en-US" sz="36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列表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981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 (Markdown)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318000" cy="1397000"/>
          </a:xfrm>
          <a:prstGeom prst="roundRect">
            <a:avLst>
              <a:gd name="adj" fmla="val 4545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667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- [ ]</a:t>
            </a:r>
            <a:r>
              <a:rPr lang="en-US" sz="1600" b="0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b="0" i="0" u="none" strike="noStrik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第一步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600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- [x]</a:t>
            </a:r>
            <a:r>
              <a:rPr lang="en-US" sz="1600" b="0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b="0" i="0" u="none" strike="noStrik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第二步</a:t>
            </a:r>
            <a:endParaRPr lang="en-US" sz="1600" b="0" i="0" u="none" strike="noStrik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8333"/>
              </a:lnSpc>
            </a:pPr>
            <a:r>
              <a:rPr lang="en-US" sz="1600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- [ ]</a:t>
            </a:r>
            <a:r>
              <a:rPr lang="en-US" sz="1600" b="0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b="0" i="0" u="none" strike="noStrik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第三步</a:t>
            </a:r>
            <a:endParaRPr lang="en-US" sz="1600" b="0" i="0" u="none" strike="noStrik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604000" y="1778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203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1981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 (Preview)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0" y="2540000"/>
            <a:ext cx="4318000" cy="1397000"/>
          </a:xfrm>
          <a:prstGeom prst="roundRect">
            <a:avLst>
              <a:gd name="adj" fmla="val 4545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DCE0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985000" y="2667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☐</a:t>
            </a:r>
            <a:r>
              <a:rPr lang="en-US" sz="16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zh-CN" altLang="en-US" sz="2000" b="0" i="0" dirty="0">
                <a:solidFill>
                  <a:srgbClr val="0F1115"/>
                </a:solidFill>
                <a:effectLst/>
                <a:latin typeface="Menlo"/>
              </a:rPr>
              <a:t>☑</a:t>
            </a:r>
            <a:r>
              <a:rPr lang="en-US" altLang="zh-CN" sz="1600" b="1" dirty="0">
                <a:solidFill>
                  <a:srgbClr val="FF7A00"/>
                </a:solidFill>
                <a:effectLst/>
                <a:latin typeface="Noto Sans SC"/>
                <a:ea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</a:t>
            </a:r>
            <a:endParaRPr lang="en-US" sz="1600" b="0" i="0" u="none" strike="noStrike" dirty="0">
              <a:solidFill>
                <a:srgbClr val="0A25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8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☐</a:t>
            </a:r>
            <a:r>
              <a:rPr lang="en-US" sz="1600" b="1" dirty="0">
                <a:solidFill>
                  <a:srgbClr val="FF7A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</a:t>
            </a:r>
            <a:endParaRPr lang="en-US" sz="1600" b="0" i="0" u="none" strike="noStrike" dirty="0">
              <a:solidFill>
                <a:srgbClr val="0A254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953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A2540">
              <a:alpha val="5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181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5080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sz="14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使用技巧：</a:t>
            </a:r>
            <a:r>
              <a:rPr lang="en-US" altLang="zh-CN" sz="14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x</a:t>
            </a:r>
            <a:r>
              <a:rPr lang="en-US" altLang="zh-CN" sz="14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用来表示是否</a:t>
            </a:r>
            <a:r>
              <a:rPr lang="zh-CN" altLang="en-US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以及完成，注意 </a:t>
            </a:r>
            <a:r>
              <a:rPr lang="en-US" altLang="zh-CN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– [ ] </a:t>
            </a:r>
            <a:r>
              <a:rPr lang="zh-CN" altLang="en-US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三个符号以及文本之间有空格分割</a:t>
            </a:r>
            <a:endParaRPr lang="en-US" sz="1100" dirty="0"/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681ACA3B-137D-103C-3112-F8C8B1373B8D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402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链接 (Links)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02543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456543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431143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 (Syntax)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964543"/>
            <a:ext cx="4445000" cy="1270000"/>
          </a:xfrm>
          <a:prstGeom prst="roundRect">
            <a:avLst>
              <a:gd name="adj" fmla="val 5000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3155043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800" b="0" i="0" u="none" strike="noStrik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点击访</a:t>
            </a:r>
            <a:r>
              <a:rPr lang="zh-CN" altLang="en-US" sz="18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访问</a:t>
            </a:r>
            <a:r>
              <a:rPr lang="en-US" altLang="zh-CN" sz="1800" b="0" i="0" u="none" strike="noStrik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GitHub</a:t>
            </a:r>
            <a:r>
              <a:rPr lang="en-US" sz="1800" b="0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](</a:t>
            </a:r>
            <a:r>
              <a:rPr lang="en-US" sz="1800" dirty="0">
                <a:solidFill>
                  <a:srgbClr val="64C8FF"/>
                </a:solidFill>
                <a:latin typeface="Consolas"/>
                <a:ea typeface="Consolas"/>
                <a:cs typeface="Consolas"/>
                <a:sym typeface="Consolas"/>
              </a:rPr>
              <a:t>https://</a:t>
            </a:r>
            <a:r>
              <a:rPr lang="en-US" altLang="zh-CN" sz="1800" dirty="0">
                <a:solidFill>
                  <a:srgbClr val="64C8FF"/>
                </a:solidFill>
                <a:latin typeface="Consolas"/>
                <a:ea typeface="Consolas"/>
                <a:cs typeface="Consolas"/>
                <a:sym typeface="Consolas"/>
              </a:rPr>
              <a:t>gi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800" b="0" i="0" u="none" strike="noStrike" dirty="0">
                <a:solidFill>
                  <a:srgbClr val="64C8FF"/>
                </a:solidFill>
                <a:latin typeface="Consolas"/>
                <a:ea typeface="Consolas"/>
                <a:cs typeface="Consolas"/>
                <a:sym typeface="Consolas"/>
              </a:rPr>
              <a:t>thub</a:t>
            </a:r>
            <a:r>
              <a:rPr lang="en-US" sz="1800" b="0" i="0" u="none" strike="noStrike" dirty="0">
                <a:solidFill>
                  <a:srgbClr val="64C8FF"/>
                </a:solidFill>
                <a:latin typeface="Consolas"/>
                <a:ea typeface="Consolas"/>
                <a:cs typeface="Consolas"/>
                <a:sym typeface="Consolas"/>
              </a:rPr>
              <a:t>.com</a:t>
            </a:r>
            <a:r>
              <a:rPr lang="en-US" sz="1800" b="0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350000" y="2202543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2456543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75500" y="2431143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 (Render)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67500" y="2964543"/>
            <a:ext cx="4445000" cy="1270000"/>
          </a:xfrm>
          <a:prstGeom prst="roundRect">
            <a:avLst>
              <a:gd name="adj" fmla="val 500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858000" y="3155043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sng" strike="noStrike" dirty="0">
                <a:solidFill>
                  <a:srgbClr val="0052D9"/>
                </a:solidFill>
                <a:latin typeface="Noto Sans SC"/>
                <a:ea typeface="Noto Sans SC"/>
                <a:cs typeface="Noto Sans SC"/>
                <a:sym typeface="Noto Sans SC"/>
              </a:rPr>
              <a:t>点击访问G</a:t>
            </a:r>
            <a:r>
              <a:rPr lang="en-US" altLang="zh-CN" sz="2200" b="1" i="0" u="sng" strike="noStrike" dirty="0">
                <a:solidFill>
                  <a:srgbClr val="0052D9"/>
                </a:solidFill>
                <a:latin typeface="Noto Sans SC"/>
                <a:ea typeface="Noto Sans SC"/>
                <a:cs typeface="Noto Sans SC"/>
                <a:sym typeface="Noto Sans SC"/>
              </a:rPr>
              <a:t>itHub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62000" y="6262914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0A254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1600" b="0" i="0" u="none" strike="noStrike" dirty="0" err="1">
                <a:solidFill>
                  <a:srgbClr val="0A254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提示：方括号内为链接显示文字，圆括号内为跳转目标网址</a:t>
            </a:r>
            <a:r>
              <a:rPr lang="en-US" sz="1600" b="0" i="0" u="none" strike="noStrike" dirty="0">
                <a:solidFill>
                  <a:srgbClr val="0A254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C5287DB3-0A6A-6565-1BB9-5013CDFD5442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图片 (Images)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66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 (Syntax)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318000" cy="1778000"/>
          </a:xfrm>
          <a:prstGeom prst="roundRect">
            <a:avLst>
              <a:gd name="adj" fmla="val 3571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54000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![</a:t>
            </a:r>
            <a:r>
              <a:rPr lang="en-US" sz="1600" b="0" i="0" u="none" strike="noStrike" dirty="0" err="1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图片描述</a:t>
            </a: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](</a:t>
            </a:r>
            <a:r>
              <a:rPr lang="en-US" sz="1600" b="0" i="0" u="none" strike="noStrike" dirty="0" err="1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图片URL</a:t>
            </a: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// </a:t>
            </a:r>
            <a:r>
              <a:rPr lang="en-US" sz="14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方括号内为图片描述，圆括号内为地址</a:t>
            </a:r>
            <a:endParaRPr lang="en-US" sz="1400" b="0" i="0" u="none" strike="noStrike" dirty="0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604000" y="1651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1905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1866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 (Render)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1000"/>
                    </a14:imgEffect>
                    <a14:imgEffect>
                      <a14:brightnessContrast bright="2000" contrast="5000"/>
                    </a14:imgEffect>
                  </a14:imgLayer>
                </a14:imgProps>
              </a:ext>
            </a:extLst>
          </a:blip>
          <a:srcRect t="9374" b="45070"/>
          <a:stretch/>
        </p:blipFill>
        <p:spPr>
          <a:xfrm>
            <a:off x="7742936" y="2558381"/>
            <a:ext cx="2548128" cy="1741238"/>
          </a:xfrm>
          <a:prstGeom prst="roundRect">
            <a:avLst>
              <a:gd name="adj" fmla="val 8130"/>
            </a:avLst>
          </a:prstGeom>
          <a:noFill/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76200" dist="25400" dir="54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A2540">
              <a:alpha val="5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562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5524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插入图片与插入链接语法相似，只需在链接语法前添加</a:t>
            </a:r>
            <a:r>
              <a:rPr lang="en-US" sz="1600" b="1" i="0" u="none" strike="noStrike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16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感叹号即可。</a:t>
            </a:r>
            <a:endParaRPr lang="en-US" sz="1100"/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99F0EAE8-82D9-0D66-65C2-35FFCBEDA9C1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引用 (Blockquotes)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02541"/>
            <a:ext cx="4826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393041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 (Syntax)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837541"/>
            <a:ext cx="431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 </a:t>
            </a:r>
            <a:r>
              <a:rPr lang="en-US" sz="1600" b="0" i="0" u="none" strike="noStrike" dirty="0" err="1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这是一段引用内容</a:t>
            </a:r>
            <a:r>
              <a:rPr lang="en-US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。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 </a:t>
            </a:r>
            <a:r>
              <a:rPr lang="en-US" sz="1600" b="0" i="0" u="none" strike="noStrike" dirty="0" err="1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这是引用的第二行</a:t>
            </a:r>
            <a:r>
              <a:rPr lang="en-US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604000" y="2202541"/>
            <a:ext cx="4826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858000" y="2393041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 (Preview)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858000" y="2837541"/>
            <a:ext cx="4318000" cy="1397000"/>
          </a:xfrm>
          <a:prstGeom prst="roundRect">
            <a:avLst>
              <a:gd name="adj" fmla="val 4545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858000" y="2837541"/>
            <a:ext cx="50800" cy="13970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048500" y="2901041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这是一段引用内容</a:t>
            </a:r>
            <a:r>
              <a:rPr lang="en-US" sz="16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这是引用的第二行</a:t>
            </a:r>
            <a:r>
              <a:rPr lang="en-US" sz="1600" b="0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6168571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505F6F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</a:t>
            </a:r>
            <a:r>
              <a:rPr lang="en-US" sz="1400" b="0" i="0" u="none" strike="noStrike" dirty="0" err="1">
                <a:solidFill>
                  <a:srgbClr val="505F6F"/>
                </a:solidFill>
                <a:latin typeface="Noto Sans SC"/>
                <a:ea typeface="Noto Sans SC"/>
                <a:cs typeface="Noto Sans SC"/>
                <a:sym typeface="Noto Sans SC"/>
              </a:rPr>
              <a:t>引用语法通过大于号</a:t>
            </a:r>
            <a:r>
              <a:rPr lang="en-US" sz="1400" b="0" i="0" u="none" strike="noStrike" dirty="0">
                <a:solidFill>
                  <a:srgbClr val="505F6F"/>
                </a:solidFill>
                <a:latin typeface="Noto Sans SC"/>
                <a:ea typeface="Noto Sans SC"/>
                <a:cs typeface="Noto Sans SC"/>
                <a:sym typeface="Noto Sans SC"/>
              </a:rPr>
              <a:t> &gt; </a:t>
            </a:r>
            <a:r>
              <a:rPr lang="en-US" sz="1400" b="0" i="0" u="none" strike="noStrike" dirty="0" err="1">
                <a:solidFill>
                  <a:srgbClr val="505F6F"/>
                </a:solidFill>
                <a:latin typeface="Noto Sans SC"/>
                <a:ea typeface="Noto Sans SC"/>
                <a:cs typeface="Noto Sans SC"/>
                <a:sym typeface="Noto Sans SC"/>
              </a:rPr>
              <a:t>实现，自动缩进并生成醒目的左侧装饰线，提升阅读体验</a:t>
            </a:r>
            <a:r>
              <a:rPr lang="en-US" sz="1400" b="0" i="0" u="none" strike="noStrike" dirty="0">
                <a:solidFill>
                  <a:srgbClr val="505F6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3600" y="635000"/>
            <a:ext cx="406400" cy="406400"/>
          </a:xfrm>
          <a:prstGeom prst="rect">
            <a:avLst/>
          </a:prstGeom>
        </p:spPr>
      </p:pic>
      <p:sp>
        <p:nvSpPr>
          <p:cNvPr id="14" name="AutoShape 5">
            <a:extLst>
              <a:ext uri="{FF2B5EF4-FFF2-40B4-BE49-F238E27FC236}">
                <a16:creationId xmlns:a16="http://schemas.microsoft.com/office/drawing/2014/main" id="{3FD593A2-5B46-2F5D-F1D2-76BF1761D39F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651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0" y="304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spc="20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进阶格式技巧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81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0" y="4064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spc="400">
                <a:solidFill>
                  <a:srgbClr val="0A254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ADVANCED FORMATTING SKILLS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1999" y="635000"/>
            <a:ext cx="533400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行内代码</a:t>
            </a:r>
            <a:r>
              <a:rPr lang="en-US" sz="36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altLang="zh-CN" sz="4400" b="1" i="0" dirty="0">
                <a:solidFill>
                  <a:srgbClr val="0F1115"/>
                </a:solidFill>
                <a:effectLst/>
                <a:latin typeface="quote-cjk-patch"/>
              </a:rPr>
              <a:t>inline code</a:t>
            </a:r>
            <a:r>
              <a:rPr lang="en-US" sz="36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202541"/>
            <a:ext cx="4826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393041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</a:t>
            </a:r>
            <a:r>
              <a:rPr lang="en-US" sz="18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(Syntax)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2837541"/>
            <a:ext cx="431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在</a:t>
            </a:r>
            <a:r>
              <a:rPr lang="en-US" altLang="zh-CN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C++</a:t>
            </a:r>
            <a:r>
              <a:rPr lang="zh-CN" altLang="en-US" sz="1600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中，</a:t>
            </a:r>
            <a:r>
              <a:rPr lang="en-US" altLang="zh-CN" sz="1600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`assert`</a:t>
            </a:r>
            <a:r>
              <a:rPr lang="zh-CN" altLang="en-US" sz="1600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用于运行时断言，</a:t>
            </a:r>
            <a:r>
              <a:rPr lang="en-US" altLang="zh-CN" sz="1600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`</a:t>
            </a:r>
            <a:r>
              <a:rPr lang="en-US" altLang="zh-CN" sz="1600" dirty="0" err="1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static_assert</a:t>
            </a:r>
            <a:r>
              <a:rPr lang="en-US" altLang="zh-CN" sz="1600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`</a:t>
            </a:r>
            <a:r>
              <a:rPr lang="zh-CN" altLang="en-US" sz="1600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则用于编译时断言</a:t>
            </a:r>
            <a:endParaRPr lang="en-US" sz="1600" b="0" i="0" u="none" strike="noStrike" dirty="0">
              <a:solidFill>
                <a:srgbClr val="0A254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604000" y="2202541"/>
            <a:ext cx="4826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858000" y="2393041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 (Preview)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858000" y="2901041"/>
            <a:ext cx="4318000" cy="1397000"/>
          </a:xfrm>
          <a:prstGeom prst="roundRect">
            <a:avLst>
              <a:gd name="adj" fmla="val 4545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C7EABC1-F592-C0F0-04CB-9034A15C8945}"/>
              </a:ext>
            </a:extLst>
          </p:cNvPr>
          <p:cNvSpPr/>
          <p:nvPr/>
        </p:nvSpPr>
        <p:spPr>
          <a:xfrm>
            <a:off x="8207375" y="3316998"/>
            <a:ext cx="828675" cy="174105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AutoShape 12"/>
          <p:cNvSpPr/>
          <p:nvPr/>
        </p:nvSpPr>
        <p:spPr>
          <a:xfrm>
            <a:off x="762000" y="6168571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505F6F"/>
                </a:solidFill>
                <a:latin typeface="Noto Sans SC"/>
                <a:ea typeface="Noto Sans SC"/>
                <a:cs typeface="Noto Sans SC"/>
                <a:sym typeface="Noto Sans SC"/>
              </a:rPr>
              <a:t>通常情况下渲染结果两边会有些缝隙，与周围的文本分割，起突出强调作用</a:t>
            </a:r>
            <a:endParaRPr lang="en-US" sz="1100" dirty="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3600" y="635000"/>
            <a:ext cx="406400" cy="406400"/>
          </a:xfrm>
          <a:prstGeom prst="rect">
            <a:avLst/>
          </a:prstGeom>
        </p:spPr>
      </p:pic>
      <p:sp>
        <p:nvSpPr>
          <p:cNvPr id="14" name="AutoShape 5">
            <a:extLst>
              <a:ext uri="{FF2B5EF4-FFF2-40B4-BE49-F238E27FC236}">
                <a16:creationId xmlns:a16="http://schemas.microsoft.com/office/drawing/2014/main" id="{3FD593A2-5B46-2F5D-F1D2-76BF1761D39F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55AA677-FD20-4E90-C99A-9429734BD70D}"/>
              </a:ext>
            </a:extLst>
          </p:cNvPr>
          <p:cNvSpPr/>
          <p:nvPr/>
        </p:nvSpPr>
        <p:spPr>
          <a:xfrm>
            <a:off x="6985000" y="3632233"/>
            <a:ext cx="1689100" cy="174105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AutoShape 11"/>
          <p:cNvSpPr/>
          <p:nvPr/>
        </p:nvSpPr>
        <p:spPr>
          <a:xfrm>
            <a:off x="7048500" y="2901041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在</a:t>
            </a:r>
            <a:r>
              <a:rPr lang="en-US" altLang="zh-CN" sz="1600" b="0" i="0" u="none" strike="noStrike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C++</a:t>
            </a:r>
            <a:r>
              <a:rPr lang="zh-CN" altLang="en-US" sz="1600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中， </a:t>
            </a:r>
            <a:r>
              <a:rPr lang="en-US" altLang="zh-CN" sz="1600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assert </a:t>
            </a:r>
            <a:r>
              <a:rPr lang="zh-CN" altLang="en-US" sz="1600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用于运行时断言，</a:t>
            </a:r>
            <a:r>
              <a:rPr lang="en-US" altLang="zh-CN" sz="1600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static_assert </a:t>
            </a:r>
            <a:r>
              <a:rPr lang="zh-CN" altLang="en-US" sz="1600" dirty="0">
                <a:solidFill>
                  <a:srgbClr val="0A254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则用于编译时断言</a:t>
            </a:r>
            <a:endParaRPr lang="en-US" altLang="zh-CN" sz="1600" b="0" i="0" u="none" strike="noStrike" dirty="0">
              <a:solidFill>
                <a:srgbClr val="0A254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981423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代码块 (Code Blocks)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1546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30596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26786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 (Syntax)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50460"/>
            <a:ext cx="457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```python</a:t>
            </a:r>
            <a:endParaRPr lang="en-US" sz="1100" dirty="0"/>
          </a:p>
          <a:p>
            <a:pPr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print(“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altLang="zh-CN" sz="16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ia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llo</a:t>
            </a:r>
            <a:r>
              <a:rPr lang="en-US" sz="16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Markdown</a:t>
            </a:r>
            <a:r>
              <a:rPr lang="zh-CN" altLang="el-GR" sz="2000" b="0" dirty="0">
                <a:solidFill>
                  <a:srgbClr val="333333"/>
                </a:solidFill>
                <a:effectLst/>
                <a:latin typeface="PingFang SC"/>
              </a:rPr>
              <a:t>～</a:t>
            </a:r>
            <a:r>
              <a:rPr lang="el-GR" altLang="zh-CN" sz="2000" b="0" dirty="0">
                <a:solidFill>
                  <a:srgbClr val="333333"/>
                </a:solidFill>
                <a:effectLst/>
                <a:latin typeface="PingFang SC"/>
              </a:rPr>
              <a:t>(∠</a:t>
            </a:r>
            <a:r>
              <a:rPr lang="zh-CN" altLang="el-GR" sz="2000" b="0" dirty="0">
                <a:solidFill>
                  <a:srgbClr val="333333"/>
                </a:solidFill>
                <a:effectLst/>
                <a:latin typeface="PingFang SC"/>
              </a:rPr>
              <a:t>・</a:t>
            </a:r>
            <a:r>
              <a:rPr lang="el-GR" altLang="zh-CN" sz="2000" b="0" dirty="0">
                <a:solidFill>
                  <a:srgbClr val="333333"/>
                </a:solidFill>
                <a:effectLst/>
                <a:latin typeface="PingFang SC"/>
              </a:rPr>
              <a:t>ω&lt; )⌒★</a:t>
            </a:r>
            <a:r>
              <a:rPr lang="en-US" sz="16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")</a:t>
            </a:r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in range(5):</a:t>
            </a:r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```</a:t>
            </a:r>
          </a:p>
        </p:txBody>
      </p:sp>
      <p:sp>
        <p:nvSpPr>
          <p:cNvPr id="8" name="AutoShape 8"/>
          <p:cNvSpPr/>
          <p:nvPr/>
        </p:nvSpPr>
        <p:spPr>
          <a:xfrm>
            <a:off x="6350000" y="211546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0A254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230596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226786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 (Rendered)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750460"/>
            <a:ext cx="457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600" b="0" i="0" u="none" strike="noStrik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 b="0" i="0" u="none" strike="noStrike" dirty="0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n-US" sz="1600" b="0" i="0" u="none" strike="noStrike" dirty="0" err="1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altLang="zh-CN" sz="1600" b="0" i="0" u="none" strike="noStrike" dirty="0" err="1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ia</a:t>
            </a:r>
            <a:r>
              <a:rPr lang="en-US" sz="1600" b="0" i="0" u="none" strike="noStrike" dirty="0" err="1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llo</a:t>
            </a:r>
            <a:r>
              <a:rPr lang="en-US" sz="1600" dirty="0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b="0" i="0" u="none" strike="noStrike" dirty="0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Markdown</a:t>
            </a:r>
            <a:r>
              <a:rPr lang="zh-CN" altLang="el-GR" sz="2000" b="0" dirty="0">
                <a:solidFill>
                  <a:srgbClr val="4CAF50"/>
                </a:solidFill>
                <a:effectLst/>
                <a:latin typeface="PingFang SC"/>
              </a:rPr>
              <a:t>～</a:t>
            </a:r>
            <a:r>
              <a:rPr lang="el-GR" altLang="zh-CN" sz="2000" b="0" dirty="0">
                <a:solidFill>
                  <a:srgbClr val="4CAF50"/>
                </a:solidFill>
                <a:effectLst/>
                <a:latin typeface="PingFang SC"/>
              </a:rPr>
              <a:t>(∠</a:t>
            </a:r>
            <a:r>
              <a:rPr lang="zh-CN" altLang="el-GR" sz="2000" b="0" dirty="0">
                <a:solidFill>
                  <a:srgbClr val="4CAF50"/>
                </a:solidFill>
                <a:effectLst/>
                <a:latin typeface="PingFang SC"/>
              </a:rPr>
              <a:t>・</a:t>
            </a:r>
            <a:r>
              <a:rPr lang="el-GR" altLang="zh-CN" sz="2000" b="0" dirty="0">
                <a:solidFill>
                  <a:srgbClr val="4CAF50"/>
                </a:solidFill>
                <a:effectLst/>
                <a:latin typeface="PingFang SC"/>
              </a:rPr>
              <a:t>ω&lt; )⌒★</a:t>
            </a:r>
            <a:r>
              <a:rPr lang="en-US" sz="1600" b="0" i="0" u="none" strike="noStrike" dirty="0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600" b="0" i="0" u="none" strike="noStrik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altLang="zh-CN" sz="1600" b="1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or </a:t>
            </a:r>
            <a:r>
              <a:rPr lang="en-US" altLang="zh-CN" sz="1600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-US" sz="1600" b="0" i="0" u="none" strike="noStrik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range(5):</a:t>
            </a:r>
          </a:p>
          <a:p>
            <a:pPr indent="0" algn="l">
              <a:lnSpc>
                <a:spcPct val="108333"/>
              </a:lnSpc>
            </a:pPr>
            <a:r>
              <a:rPr lang="en-US" sz="1600" b="1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600" b="0" i="0" u="none" strike="noStrik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 b="0" i="0" u="none" strike="noStrik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6030688"/>
            <a:ext cx="10668000" cy="25400"/>
          </a:xfrm>
          <a:prstGeom prst="roundRect">
            <a:avLst>
              <a:gd name="adj" fmla="val 0"/>
            </a:avLst>
          </a:prstGeom>
          <a:solidFill>
            <a:srgbClr val="0A254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6221188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💡 技巧：在反引号后指定语言名称（如</a:t>
            </a:r>
            <a:r>
              <a:rPr lang="en-US" sz="1400" b="1" i="0" u="none" strike="noStrik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），即可实现自动语法高亮，提升代码可读性。</a:t>
            </a:r>
            <a:endParaRPr lang="en-US" sz="1100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2B901ADF-C93D-37AE-AA81-43985D5018D4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表格</a:t>
            </a:r>
            <a:r>
              <a:rPr lang="en-US" sz="36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altLang="zh-CN" sz="36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table</a:t>
            </a:r>
            <a:r>
              <a:rPr lang="en-US" sz="36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66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 (Syntax)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34220"/>
            <a:ext cx="4318000" cy="1778000"/>
          </a:xfrm>
          <a:prstGeom prst="roundRect">
            <a:avLst>
              <a:gd name="adj" fmla="val 3571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76122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姓名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年龄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简介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:---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:---: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---: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en-US" altLang="zh-CN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yumo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235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岁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喵！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en-US" altLang="zh-CN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xiaodi</a:t>
            </a: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en-US" sz="1600" b="1" i="0" u="none" strike="noStrike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0</a:t>
            </a:r>
            <a:r>
              <a:rPr lang="zh-CN" altLang="en-US" sz="1600" b="1" i="0" u="none" strike="noStrike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岁</a:t>
            </a: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r>
              <a:rPr lang="en-US" sz="1600" b="1" i="0" u="none" strike="noStrike" dirty="0" err="1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C</a:t>
            </a:r>
            <a:r>
              <a:rPr lang="en-US" altLang="zh-CN" sz="1600" b="1" i="0" u="none" strike="noStrike" dirty="0" err="1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iallo</a:t>
            </a:r>
            <a:r>
              <a:rPr lang="en-US" altLang="zh-CN" sz="1600" b="1" i="0" u="none" strike="noStrike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 world</a:t>
            </a: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|</a:t>
            </a:r>
            <a:endParaRPr lang="en-US" sz="1400" b="0" i="0" u="none" strike="noStrike" dirty="0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604000" y="1651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1905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1866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 (Render)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A2540">
              <a:alpha val="5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562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5524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  : </a:t>
            </a:r>
            <a:r>
              <a:rPr lang="zh-CN" altLang="en-US" sz="1600" dirty="0">
                <a:solidFill>
                  <a:srgbClr val="0A2540"/>
                </a:solidFill>
                <a:latin typeface="Noto Sans SC"/>
                <a:ea typeface="Noto Sans SC"/>
                <a:cs typeface="Consolas"/>
                <a:sym typeface="Noto Sans SC"/>
              </a:rPr>
              <a:t>用于标记当前列表格文本对齐方式</a:t>
            </a:r>
            <a:endParaRPr lang="en-US" sz="1100" dirty="0"/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99F0EAE8-82D9-0D66-65C2-35FFCBEDA9C1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E472FC5-064F-794E-88D6-F325FB45E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971215"/>
              </p:ext>
            </p:extLst>
          </p:nvPr>
        </p:nvGraphicFramePr>
        <p:xfrm>
          <a:off x="6969125" y="3081020"/>
          <a:ext cx="4095750" cy="982980"/>
        </p:xfrm>
        <a:graphic>
          <a:graphicData uri="http://schemas.openxmlformats.org/drawingml/2006/table">
            <a:tbl>
              <a:tblPr/>
              <a:tblGrid>
                <a:gridCol w="1365250">
                  <a:extLst>
                    <a:ext uri="{9D8B030D-6E8A-4147-A177-3AD203B41FA5}">
                      <a16:colId xmlns:a16="http://schemas.microsoft.com/office/drawing/2014/main" val="2472159301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124471694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2857204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姓名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年龄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</a:rPr>
                        <a:t>简介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406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yumo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235</a:t>
                      </a:r>
                      <a:r>
                        <a:rPr lang="zh-CN" altLang="en-US">
                          <a:effectLst/>
                        </a:rPr>
                        <a:t>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>
                          <a:effectLst/>
                        </a:rPr>
                        <a:t>喵！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989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xiaodi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</a:t>
                      </a:r>
                      <a:r>
                        <a:rPr lang="zh-CN" altLang="en-US">
                          <a:effectLst/>
                        </a:rPr>
                        <a:t>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Ciallo</a:t>
                      </a:r>
                      <a:r>
                        <a:rPr lang="en-US" dirty="0">
                          <a:effectLst/>
                        </a:rPr>
                        <a:t> world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02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45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转义</a:t>
            </a:r>
            <a:r>
              <a:rPr lang="en-US" sz="36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altLang="zh-CN" sz="4400" b="1" i="0" dirty="0">
                <a:solidFill>
                  <a:srgbClr val="0F1115"/>
                </a:solidFill>
                <a:effectLst/>
                <a:latin typeface="quote-cjk-patch"/>
              </a:rPr>
              <a:t>escape</a:t>
            </a:r>
            <a:r>
              <a:rPr lang="en-US" sz="36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66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语法示例 (Syntax)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89976"/>
            <a:ext cx="4318000" cy="1778000"/>
          </a:xfrm>
          <a:prstGeom prst="roundRect">
            <a:avLst>
              <a:gd name="adj" fmla="val 3571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716976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\#</a:t>
            </a:r>
            <a:r>
              <a:rPr lang="zh-CN" alt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你好</a:t>
            </a:r>
            <a:endParaRPr lang="en-US" altLang="zh-CN" sz="1600" b="1" dirty="0">
              <a:solidFill>
                <a:schemeClr val="tx1"/>
              </a:solidFill>
              <a:latin typeface="Consolas"/>
              <a:ea typeface="Noto Sans SC"/>
              <a:cs typeface="Noto Sans SC"/>
              <a:sym typeface="Consolas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\!\[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你好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]\(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你好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)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\*\*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文字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\*\*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`` </a:t>
            </a: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`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你好</a:t>
            </a: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`</a:t>
            </a:r>
            <a:r>
              <a:rPr lang="en-US" sz="1600" b="1" dirty="0">
                <a:solidFill>
                  <a:srgbClr val="FF7A00"/>
                </a:solidFill>
                <a:latin typeface="Consolas"/>
                <a:ea typeface="Noto Sans SC"/>
                <a:cs typeface="Noto Sans SC"/>
                <a:sym typeface="Consolas"/>
              </a:rPr>
              <a:t> ``</a:t>
            </a:r>
          </a:p>
        </p:txBody>
      </p:sp>
      <p:sp>
        <p:nvSpPr>
          <p:cNvPr id="9" name="AutoShape 9"/>
          <p:cNvSpPr/>
          <p:nvPr/>
        </p:nvSpPr>
        <p:spPr>
          <a:xfrm>
            <a:off x="6604000" y="1651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54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855538" y="1866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</a:t>
            </a:r>
            <a:r>
              <a:rPr lang="en-US" sz="20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 (Render)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A2540">
              <a:alpha val="5000"/>
            </a:srgbClr>
          </a:solidFill>
          <a:ln w="12700" cap="flat" cmpd="sng">
            <a:solidFill>
              <a:srgbClr val="0A254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562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5524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插入图片与插入链接语法相似，只需在链接语法前添加</a:t>
            </a:r>
            <a:r>
              <a:rPr lang="en-US" sz="1600" b="1" i="0" u="none" strike="noStrike">
                <a:solidFill>
                  <a:srgbClr val="FF7A00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1600" b="0" i="0" u="none" strike="noStrike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感叹号即可。</a:t>
            </a:r>
            <a:endParaRPr lang="en-US" sz="1100"/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99F0EAE8-82D9-0D66-65C2-35FFCBEDA9C1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4744A295-8E71-3554-4DCC-C23AFB636237}"/>
              </a:ext>
            </a:extLst>
          </p:cNvPr>
          <p:cNvSpPr/>
          <p:nvPr/>
        </p:nvSpPr>
        <p:spPr>
          <a:xfrm>
            <a:off x="6858000" y="2584656"/>
            <a:ext cx="4318000" cy="1778000"/>
          </a:xfrm>
          <a:prstGeom prst="roundRect">
            <a:avLst>
              <a:gd name="adj" fmla="val 3571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41AEC2C-EC03-2002-356B-F3EB6C6FC9F4}"/>
              </a:ext>
            </a:extLst>
          </p:cNvPr>
          <p:cNvSpPr/>
          <p:nvPr/>
        </p:nvSpPr>
        <p:spPr>
          <a:xfrm>
            <a:off x="6985000" y="3805083"/>
            <a:ext cx="802148" cy="309717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AutoShape 8">
            <a:extLst>
              <a:ext uri="{FF2B5EF4-FFF2-40B4-BE49-F238E27FC236}">
                <a16:creationId xmlns:a16="http://schemas.microsoft.com/office/drawing/2014/main" id="{58A90DB0-8DC5-644A-EF1C-4448D9F3503B}"/>
              </a:ext>
            </a:extLst>
          </p:cNvPr>
          <p:cNvSpPr/>
          <p:nvPr/>
        </p:nvSpPr>
        <p:spPr>
          <a:xfrm>
            <a:off x="6985000" y="2711656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#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 你好</a:t>
            </a:r>
            <a:endParaRPr lang="en-US" altLang="zh-CN" sz="1600" b="1" dirty="0">
              <a:solidFill>
                <a:schemeClr val="tx1"/>
              </a:solidFill>
              <a:latin typeface="Consolas"/>
              <a:ea typeface="Noto Sans SC"/>
              <a:cs typeface="Noto Sans SC"/>
              <a:sym typeface="Consolas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![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你好</a:t>
            </a: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](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你好</a:t>
            </a: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)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**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文字</a:t>
            </a: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**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 `</a:t>
            </a:r>
            <a:r>
              <a:rPr lang="zh-CN" alt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你好</a:t>
            </a:r>
            <a:r>
              <a:rPr lang="en-US" sz="1600" b="1" dirty="0">
                <a:solidFill>
                  <a:schemeClr val="tx1"/>
                </a:solidFill>
                <a:latin typeface="Consolas"/>
                <a:ea typeface="Noto Sans SC"/>
                <a:cs typeface="Noto Sans SC"/>
                <a:sym typeface="Consolas"/>
              </a:rPr>
              <a:t>` </a:t>
            </a:r>
          </a:p>
        </p:txBody>
      </p:sp>
    </p:spTree>
    <p:extLst>
      <p:ext uri="{BB962C8B-B14F-4D97-AF65-F5344CB8AC3E}">
        <p14:creationId xmlns:p14="http://schemas.microsoft.com/office/powerpoint/2010/main" val="2008864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778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 dirty="0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spc="400" dirty="0" err="1">
                <a:solidFill>
                  <a:srgbClr val="0A254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715000" y="4064000"/>
            <a:ext cx="762000" cy="50800"/>
          </a:xfrm>
          <a:prstGeom prst="roundRect">
            <a:avLst>
              <a:gd name="adj" fmla="val 0"/>
            </a:avLst>
          </a:prstGeom>
          <a:solidFill>
            <a:srgbClr val="0A25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4318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 dirty="0">
                <a:solidFill>
                  <a:srgbClr val="0A254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SUMMARY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54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286000" y="1778000"/>
            <a:ext cx="762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540000" y="21590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Markdown很简单，动手试试吧！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40000" y="27305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613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2540000" y="3810000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期待您的反馈与交流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1016000"/>
            <a:ext cx="406400" cy="4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54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970" y="148541"/>
            <a:ext cx="4630057" cy="202910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9703987-DF13-3008-8C87-71B1D5F45496}"/>
              </a:ext>
            </a:extLst>
          </p:cNvPr>
          <p:cNvSpPr txBox="1"/>
          <p:nvPr/>
        </p:nvSpPr>
        <p:spPr>
          <a:xfrm>
            <a:off x="1083127" y="2018491"/>
            <a:ext cx="1002574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</a:rPr>
              <a:t>PPT</a:t>
            </a: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细节修改、动画完善：</a:t>
            </a:r>
            <a:r>
              <a:rPr lang="en-US" altLang="zh-CN" sz="2400" dirty="0" err="1">
                <a:solidFill>
                  <a:schemeClr val="bg1">
                    <a:lumMod val="95000"/>
                  </a:schemeClr>
                </a:solidFill>
              </a:rPr>
              <a:t>Yumo</a:t>
            </a:r>
            <a:endParaRPr lang="en-US" altLang="zh-CN" sz="2400" dirty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视频：小狄同学呀</a:t>
            </a:r>
            <a:endParaRPr lang="en-US" altLang="zh-CN" sz="2400" dirty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统筹：小狄同学呀</a:t>
            </a:r>
            <a:endParaRPr lang="en-US" altLang="zh-CN" sz="2400" dirty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文案：稿子都没有上哪来的文案</a:t>
            </a:r>
            <a:endParaRPr lang="en-US" altLang="zh-CN" sz="2400" dirty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zh-CN" sz="2400" dirty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参考规范：</a:t>
            </a:r>
            <a:endParaRPr lang="en-US" altLang="zh-CN" sz="2400" dirty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</a:rPr>
              <a:t>[ </a:t>
            </a:r>
            <a:r>
              <a:rPr lang="en-US" altLang="zh-CN" sz="2000" dirty="0">
                <a:hlinkClick r:id="rId5"/>
              </a:rPr>
              <a:t>Markdown </a:t>
            </a:r>
            <a:r>
              <a:rPr lang="zh-CN" altLang="en-US" sz="2000" dirty="0">
                <a:hlinkClick r:id="rId5"/>
              </a:rPr>
              <a:t>基本语法 </a:t>
            </a:r>
            <a:r>
              <a:rPr lang="en-US" altLang="zh-CN" sz="2000" dirty="0">
                <a:hlinkClick r:id="rId5"/>
              </a:rPr>
              <a:t>| Markdown </a:t>
            </a:r>
            <a:r>
              <a:rPr lang="zh-CN" altLang="en-US" sz="2000" dirty="0">
                <a:hlinkClick r:id="rId5"/>
              </a:rPr>
              <a:t>教程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</a:rPr>
              <a:t>](https://markdown.com.cn/basic-syntax/)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9254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858</Words>
  <Application>Microsoft Office PowerPoint</Application>
  <PresentationFormat>宽屏</PresentationFormat>
  <Paragraphs>244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Menlo</vt:lpstr>
      <vt:lpstr>Noto Sans SC</vt:lpstr>
      <vt:lpstr>PingFang SC</vt:lpstr>
      <vt:lpstr>quote-cjk-patch</vt:lpstr>
      <vt:lpstr>Arial</vt:lpstr>
      <vt:lpstr>Consolas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同学呀 小狄</cp:lastModifiedBy>
  <cp:revision>18</cp:revision>
  <dcterms:modified xsi:type="dcterms:W3CDTF">2026-03-28T18:02:49Z</dcterms:modified>
</cp:coreProperties>
</file>